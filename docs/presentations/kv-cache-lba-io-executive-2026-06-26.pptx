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841248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EEF4FF"/>
                </a:solidFill>
                <a:latin typeface="Aptos"/>
              </a:rPr>
              <a:t>KV Cache IO / LBA 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789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9BAAC3"/>
                </a:solidFill>
                <a:latin typeface="Aptos"/>
              </a:rPr>
              <a:t>老板版结论: 应用层强局部性 + 设备层大块随机 + LBA last-touch 宽范围触达</a:t>
            </a:r>
          </a:p>
        </p:txBody>
      </p:sp>
      <p:pic>
        <p:nvPicPr>
          <p:cNvPr id="4" name="Picture 3" descr="01_sig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1129284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数据源: ShareGPT 8B TP8 CPU0.5 users2 300s + bpftrace + iostat K4 long-run |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EXECUTIVE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结论: 这不是一个“纯随机 IO”故事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正确表述是: 应用访问有强时间局部性, 设备合并率很低, LBA 分布宽且集中在高位。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606040" cy="1234440"/>
          </a:xfrm>
          <a:prstGeom prst="rect">
            <a:avLst/>
          </a:prstGeom>
          <a:solidFill>
            <a:srgbClr val="11192B"/>
          </a:solidFill>
          <a:ln w="1524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22768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3FDC92"/>
                </a:solidFill>
                <a:latin typeface="Aptos"/>
              </a:rPr>
              <a:t>应用层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0552"/>
            <a:ext cx="227685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83.4%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87752"/>
            <a:ext cx="227685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同 Key 重读发生在 10ms 内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91640"/>
            <a:ext cx="2606040" cy="1234440"/>
          </a:xfrm>
          <a:prstGeom prst="rect">
            <a:avLst/>
          </a:prstGeom>
          <a:solidFill>
            <a:srgbClr val="11192B"/>
          </a:solidFill>
          <a:ln w="1524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828800"/>
            <a:ext cx="22768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设备层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130552"/>
            <a:ext cx="227685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62%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587752"/>
            <a:ext cx="227685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读请求落在 128-256 KiB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2606040" cy="1234440"/>
          </a:xfrm>
          <a:prstGeom prst="rect">
            <a:avLst/>
          </a:prstGeom>
          <a:solidFill>
            <a:srgbClr val="11192B"/>
          </a:solidFill>
          <a:ln w="15240">
            <a:solidFill>
              <a:srgbClr val="B0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828800"/>
            <a:ext cx="22768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B079FF"/>
                </a:solidFill>
                <a:latin typeface="Aptos"/>
              </a:rPr>
              <a:t>LBA last-touch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130552"/>
            <a:ext cx="227685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388 GiB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587752"/>
            <a:ext cx="227685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非零唯一 sector 覆盖跨度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691640"/>
            <a:ext cx="2606040" cy="1234440"/>
          </a:xfrm>
          <a:prstGeom prst="rect">
            <a:avLst/>
          </a:prstGeom>
          <a:solidFill>
            <a:srgbClr val="11192B"/>
          </a:solidFill>
          <a:ln w="15240">
            <a:solidFill>
              <a:srgbClr val="FF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2" y="1828800"/>
            <a:ext cx="22768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FC94D"/>
                </a:solidFill>
                <a:latin typeface="Aptos"/>
              </a:rPr>
              <a:t>四盘长跑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130552"/>
            <a:ext cx="227685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587752"/>
            <a:ext cx="227685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%rrqm p50/p99, 合并几乎没有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对老板的可用结论: 请求形态由 KV cache 应用决定, SSD 之间差异主要体现在尾延迟和队列深度。</a:t>
            </a:r>
          </a:p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需要避免的错误结论: 不能把 bpftrace @d[] last-touch map 当成完整 per-IO LBA 流。</a:t>
            </a:r>
          </a:p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下一步要做 per-IO LBA trace, 才能严格证明真实 sequential ratio、run length 和窗口工作集。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TEST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测试矩阵: 用四类证据交叉约束同一个问题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每类数据回答的问题不同, 不能互相替代。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42316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2093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数据源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209397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ShareGPT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96312"/>
            <a:ext cx="209397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127,477 IO / 301s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00200"/>
            <a:ext cx="283464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B0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737360"/>
            <a:ext cx="25054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B079FF"/>
                </a:solidFill>
                <a:latin typeface="Aptos"/>
              </a:rPr>
              <a:t>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039112"/>
            <a:ext cx="250545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Key、phase、timestamp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496312"/>
            <a:ext cx="250545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00200"/>
            <a:ext cx="475488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37360"/>
            <a:ext cx="4425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3FDC92"/>
                </a:solidFill>
                <a:latin typeface="Aptos"/>
              </a:rPr>
              <a:t>回答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39112"/>
            <a:ext cx="442569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应用层时间局部性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496312"/>
            <a:ext cx="442569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60320"/>
            <a:ext cx="242316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697479"/>
            <a:ext cx="2093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数据源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999232"/>
            <a:ext cx="209397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bpftrace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456432"/>
            <a:ext cx="209397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171K+ block ops + 969 LBA entries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560320"/>
            <a:ext cx="283464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B0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2697479"/>
            <a:ext cx="25054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B079FF"/>
                </a:solidFill>
                <a:latin typeface="Aptos"/>
              </a:rPr>
              <a:t>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2999232"/>
            <a:ext cx="250545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IO size、D2C latency、@d[]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3456432"/>
            <a:ext cx="250545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560320"/>
            <a:ext cx="475488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2697479"/>
            <a:ext cx="4425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3FDC92"/>
                </a:solidFill>
                <a:latin typeface="Aptos"/>
              </a:rPr>
              <a:t>回答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2999232"/>
            <a:ext cx="442569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设备真实请求形态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456432"/>
            <a:ext cx="442569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520439"/>
            <a:ext cx="242316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657599"/>
            <a:ext cx="2093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数据源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959352"/>
            <a:ext cx="209397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iostat K4 long-run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416552"/>
            <a:ext cx="209397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4 disks, ~1200 samples each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3520439"/>
            <a:ext cx="283464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B0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2152" y="3657599"/>
            <a:ext cx="25054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B079FF"/>
                </a:solidFill>
                <a:latin typeface="Aptos"/>
              </a:rPr>
              <a:t>字段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2152" y="3959352"/>
            <a:ext cx="250545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req size、%rrqm、await、aqu-sz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2152" y="4416552"/>
            <a:ext cx="250545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520439"/>
            <a:ext cx="475488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3657599"/>
            <a:ext cx="4425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3FDC92"/>
                </a:solidFill>
                <a:latin typeface="Aptos"/>
              </a:rPr>
              <a:t>回答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9672" y="3959352"/>
            <a:ext cx="442569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跨盘随机性和尾延迟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4416552"/>
            <a:ext cx="442569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480559"/>
            <a:ext cx="242316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4617720"/>
            <a:ext cx="2093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数据源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919471"/>
            <a:ext cx="209397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LBA last-touch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5376671"/>
            <a:ext cx="209397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969 unique sectors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4480559"/>
            <a:ext cx="283464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B0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02152" y="4617720"/>
            <a:ext cx="25054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B079FF"/>
                </a:solidFill>
                <a:latin typeface="Aptos"/>
              </a:rPr>
              <a:t>字段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2152" y="4919471"/>
            <a:ext cx="250545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dev, sector -&gt; last timestamp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2152" y="5376671"/>
            <a:ext cx="250545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4480559"/>
            <a:ext cx="4754880" cy="731520"/>
          </a:xfrm>
          <a:prstGeom prst="rect">
            <a:avLst/>
          </a:prstGeom>
          <a:solidFill>
            <a:srgbClr val="11192B"/>
          </a:solidFill>
          <a:ln w="1524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9672" y="4617720"/>
            <a:ext cx="4425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3FDC92"/>
                </a:solidFill>
                <a:latin typeface="Aptos"/>
              </a:rPr>
              <a:t>回答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9672" y="4919471"/>
            <a:ext cx="442569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空间触达范围, 不是 per-IO 顺序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9672" y="5376671"/>
            <a:ext cx="442569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FC94D"/>
                </a:solidFill>
                <a:latin typeface="Aptos"/>
              </a:rPr>
              <a:t>设计原则: 一页讲结论, 后面每页只放支撑该结论的一类证据。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WORKLOAD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真实 ShareGPT 负载: cache 命中高, 但读写比强烈偏读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这解释了为什么 SSD 读尾延迟和冷读行为比平均带宽更值得看。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560320" cy="1143000"/>
          </a:xfrm>
          <a:prstGeom prst="rect">
            <a:avLst/>
          </a:prstGeom>
          <a:solidFill>
            <a:srgbClr val="11192B"/>
          </a:solidFill>
          <a:ln w="1524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54480"/>
            <a:ext cx="22311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56232"/>
            <a:ext cx="223113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1,678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13432"/>
            <a:ext cx="223113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5.58 req/s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560320" cy="1143000"/>
          </a:xfrm>
          <a:prstGeom prst="rect">
            <a:avLst/>
          </a:prstGeom>
          <a:solidFill>
            <a:srgbClr val="11192B"/>
          </a:solidFill>
          <a:ln w="1524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554480"/>
            <a:ext cx="22311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3FDC92"/>
                </a:solidFill>
                <a:latin typeface="Aptos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856232"/>
            <a:ext cx="223113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439,231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313432"/>
            <a:ext cx="223113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1460 tok/s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417320"/>
            <a:ext cx="2560320" cy="1143000"/>
          </a:xfrm>
          <a:prstGeom prst="rect">
            <a:avLst/>
          </a:prstGeom>
          <a:solidFill>
            <a:srgbClr val="11192B"/>
          </a:solidFill>
          <a:ln w="15240">
            <a:solidFill>
              <a:srgbClr val="FF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54480"/>
            <a:ext cx="22311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FC94D"/>
                </a:solidFill>
                <a:latin typeface="Aptos"/>
              </a:rPr>
              <a:t>Cache hit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856232"/>
            <a:ext cx="223113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97.9%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313432"/>
            <a:ext cx="223113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PASS: target &gt;30%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1417320"/>
            <a:ext cx="2560320" cy="1143000"/>
          </a:xfrm>
          <a:prstGeom prst="rect">
            <a:avLst/>
          </a:prstGeom>
          <a:solidFill>
            <a:srgbClr val="11192B"/>
          </a:solidFill>
          <a:ln w="15240">
            <a:solidFill>
              <a:srgbClr val="B0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1554480"/>
            <a:ext cx="22311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B079FF"/>
                </a:solidFill>
                <a:latin typeface="Aptos"/>
              </a:rPr>
              <a:t>Read / 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1856232"/>
            <a:ext cx="223113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19.5x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313432"/>
            <a:ext cx="223113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29.7/1.5 GiB</a:t>
            </a:r>
          </a:p>
        </p:txBody>
      </p:sp>
      <p:pic>
        <p:nvPicPr>
          <p:cNvPr id="21" name="Picture 20" descr="03_locality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11201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DEVICE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设备真实看到的是大块随机 IO, 不是应用 304KB 原样请求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bpftrace 直接观察 block layer: size split + device-to-completion latency。</a:t>
            </a:r>
          </a:p>
        </p:txBody>
      </p:sp>
      <p:pic>
        <p:nvPicPr>
          <p:cNvPr id="5" name="Picture 4" descr="04_device_shap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2014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515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9BAAC3"/>
                </a:solidFill>
                <a:latin typeface="Aptos"/>
              </a:rPr>
              <a:t>关键数: 读 D2C p50/p99 = 32/256 us; 写 D2C p50/p99 = 128/512 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LBA SPATIAL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LBA last-touch 显示高位宽范围触达, 但不能证明 per-IO 顺序率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这页是校正后的 LBA 口径: unique sector 的最后访问时间。</a:t>
            </a:r>
          </a:p>
        </p:txBody>
      </p:sp>
      <p:pic>
        <p:nvPicPr>
          <p:cNvPr id="5" name="Picture 4" descr="02_lba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9BAAC3"/>
                </a:solidFill>
                <a:latin typeface="Aptos"/>
              </a:rPr>
              <a:t>复核: 969 unique sectors; 非零范围 564.3-952.6 GiB; p50/p95 = 926.3/940.4 GiB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CROSS-VENDOR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四盘长跑: 请求大小稳定, 差异主要在尾延迟和队列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这说明 workload shape 是应用锁定的, 设备优劣体现在稳定性。</a:t>
            </a:r>
          </a:p>
        </p:txBody>
      </p:sp>
      <p:pic>
        <p:nvPicPr>
          <p:cNvPr id="5" name="Picture 4" descr="05_cross_vendor_random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2014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哪些结论是正确的, 哪些不能说过头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这页用于避免老板会后被追问时踩坑。</a:t>
            </a:r>
          </a:p>
        </p:txBody>
      </p:sp>
      <p:pic>
        <p:nvPicPr>
          <p:cNvPr id="5" name="Picture 4" descr="06_evidenc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112014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建议: 产品判断看尾延迟, 科学结论补 per-IO LBA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把展示结论和下一轮测试计划拆开。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EF4FF"/>
                </a:solidFill>
                <a:latin typeface="Aptos"/>
              </a:defRPr>
            </a:pPr>
            <a:r>
              <a:t>给业务/产品: SSD 平均带宽不是主矛盾, 读/写尾延迟和 GC 后稳定性更能区分设备。</a:t>
            </a:r>
          </a:p>
          <a:p>
            <a:pPr>
              <a:spcAft>
                <a:spcPts val="800"/>
              </a:spcAft>
              <a:defRPr sz="2000">
                <a:solidFill>
                  <a:srgbClr val="EEF4FF"/>
                </a:solidFill>
                <a:latin typeface="Aptos"/>
              </a:defRPr>
            </a:pPr>
            <a:r>
              <a:t>给测试: 保留 ShareGPT + bpftrace + iostat 三件套, 再加 blktrace/eBPF per-IO CSV。</a:t>
            </a:r>
          </a:p>
          <a:p>
            <a:pPr>
              <a:spcAft>
                <a:spcPts val="800"/>
              </a:spcAft>
              <a:defRPr sz="2000">
                <a:solidFill>
                  <a:srgbClr val="EEF4FF"/>
                </a:solidFill>
                <a:latin typeface="Aptos"/>
              </a:defRPr>
            </a:pPr>
            <a:r>
              <a:t>给报告: LBA last-touch 只能讲空间触达范围, 不再讲真实 sequential ratio 或预取长度。</a:t>
            </a:r>
          </a:p>
          <a:p>
            <a:pPr>
              <a:spcAft>
                <a:spcPts val="800"/>
              </a:spcAft>
              <a:defRPr sz="2000">
                <a:solidFill>
                  <a:srgbClr val="EEF4FF"/>
                </a:solidFill>
                <a:latin typeface="Aptos"/>
              </a:defRPr>
            </a:pPr>
            <a:r>
              <a:t>给老板的下一步问题: 同样 workload 下, 多盘/多用户是否把 inter-request 冷读从尾延迟推成吞吐瓶颈?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3200400" cy="1005840"/>
          </a:xfrm>
          <a:prstGeom prst="rect">
            <a:avLst/>
          </a:prstGeom>
          <a:solidFill>
            <a:srgbClr val="11192B"/>
          </a:solidFill>
          <a:ln w="1524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4937760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下一轮 CSV 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239512"/>
            <a:ext cx="287121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timestamp,dev,sector,bytes,rwbs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5696712"/>
            <a:ext cx="287121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per-IO LBA stream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800600"/>
            <a:ext cx="3200400" cy="1005840"/>
          </a:xfrm>
          <a:prstGeom prst="rect">
            <a:avLst/>
          </a:prstGeom>
          <a:solidFill>
            <a:srgbClr val="11192B"/>
          </a:solidFill>
          <a:ln w="1524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4937760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3FDC92"/>
                </a:solidFill>
                <a:latin typeface="Aptos"/>
              </a:rPr>
              <a:t>核心计算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5239512"/>
            <a:ext cx="287121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delta/run/window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5696712"/>
            <a:ext cx="287121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read/write 分开统计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800600"/>
            <a:ext cx="3200400" cy="1005840"/>
          </a:xfrm>
          <a:prstGeom prst="rect">
            <a:avLst/>
          </a:prstGeom>
          <a:solidFill>
            <a:srgbClr val="11192B"/>
          </a:solidFill>
          <a:ln w="15240">
            <a:solidFill>
              <a:srgbClr val="FF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4937760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FFC94D"/>
                </a:solidFill>
                <a:latin typeface="Aptos"/>
              </a:rP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5239512"/>
            <a:ext cx="287121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真实随机性结论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5696712"/>
            <a:ext cx="2871216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BAAC3"/>
                </a:solidFill>
                <a:latin typeface="Aptos"/>
              </a:rPr>
              <a:t>可与 iostat %rrqm 对齐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29D3FF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247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EEF4FF"/>
                </a:solidFill>
                <a:latin typeface="Aptos"/>
              </a:rPr>
              <a:t>关键数据索引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60704"/>
            <a:ext cx="10881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PPT 数字可从下列文件复现。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LBA 文档: docs/kv-cache-lba-timeline-analysis-2026-06-25.md</a:t>
            </a:r>
          </a:p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LBA 数据: results/kvcache-profile/lba_timeline/lba_events.json / lba_timeline_summary.json</a:t>
            </a:r>
          </a:p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Key locality: results/kvcache-profile/key_locality/kvcache_key_locality_summary.json</a:t>
            </a:r>
          </a:p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设备 bpftrace: results/kvcache-profile/bpftrace_sharegpt_8b_tp8_cpu0p5g_users2_300s_profile_20260608_014520.txt</a:t>
            </a:r>
          </a:p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四盘 iostat: results/cross_vendor/kv_cache_k4_gc_drift/_analysis/kvcache_io_randomness_summary.csv</a:t>
            </a:r>
          </a:p>
          <a:p>
            <a:pPr>
              <a:spcAft>
                <a:spcPts val="8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生成脚本: scripts/generate_kv_cache_boss_ppt.py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