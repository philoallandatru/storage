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80467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EEF4FF"/>
                </a:solidFill>
                <a:latin typeface="Aptos"/>
              </a:rPr>
              <a:t>AI SSD 产品预研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98448"/>
            <a:ext cx="10515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9BAAC3"/>
                </a:solidFill>
                <a:latin typeface="Aptos"/>
              </a:rPr>
              <a:t>从 KV Cache 真实 I/O 到 pSLC Context Buffer 的产品设计</a:t>
            </a:r>
          </a:p>
        </p:txBody>
      </p:sp>
      <p:pic>
        <p:nvPicPr>
          <p:cNvPr id="4" name="Picture 3" descr="00_hero_ai_ss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11201400" cy="4315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一句话: 把 SSD 从容量盘升级为 LLM serving 的 context memory tier。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为什么需要 AI SSD: KV Cache 正在变成模型的上下文记忆层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长上下文、多轮会话、Agent memory 会把 HBM/DRAM 放不下的上下文下沉到 SSD。</a:t>
            </a:r>
          </a:p>
        </p:txBody>
      </p:sp>
      <p:pic>
        <p:nvPicPr>
          <p:cNvPr id="5" name="Picture 4" descr="01_four_tier_cache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85216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8288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HBM 最快但最贵, 不能无限放上下文。</a:t>
            </a:r>
          </a:p>
          <a:p>
            <a:pPr>
              <a:spcAft>
                <a:spcPts val="7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DRAM 可以缓冲, 但长会话和多用户仍会溢出。</a:t>
            </a:r>
          </a:p>
          <a:p>
            <a:pPr>
              <a:spcAft>
                <a:spcPts val="700"/>
              </a:spcAft>
              <a:defRPr sz="1700">
                <a:solidFill>
                  <a:srgbClr val="EEF4FF"/>
                </a:solidFill>
                <a:latin typeface="Aptos"/>
              </a:defRPr>
            </a:pPr>
            <a:r>
              <a:t>SSD 成为 context memory tier: 它必须服务 TTFT 和 read tail, 不是只存文件。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AI SSD 要用系统指标定义价值, 例如 TTFT、cache hit、read P99、GC cliff。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REAL 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真实 I/O 画像: decode read 随机, write 多数连续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真实 block trace 显示, KV cache 不能再笼统说成“随机大块 IO”。</a:t>
            </a:r>
          </a:p>
        </p:txBody>
      </p:sp>
      <p:pic>
        <p:nvPicPr>
          <p:cNvPr id="5" name="Picture 4" descr="04_delta_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9224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3760" y="1481328"/>
            <a:ext cx="2057400" cy="960120"/>
          </a:xfrm>
          <a:prstGeom prst="rect">
            <a:avLst/>
          </a:prstGeom>
          <a:solidFill>
            <a:srgbClr val="11192B"/>
          </a:solidFill>
          <a:ln w="13970">
            <a:solidFill>
              <a:srgbClr val="FF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591056"/>
            <a:ext cx="17830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5B6D"/>
                </a:solidFill>
                <a:latin typeface="Aptos"/>
              </a:rPr>
              <a:t>Read 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865376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95.1%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286000"/>
            <a:ext cx="17830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&gt;=100 MiB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1481328"/>
            <a:ext cx="2057400" cy="960120"/>
          </a:xfrm>
          <a:prstGeom prst="rect">
            <a:avLst/>
          </a:prstGeom>
          <a:solidFill>
            <a:srgbClr val="11192B"/>
          </a:solidFill>
          <a:ln w="1397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591056"/>
            <a:ext cx="17830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3FDC92"/>
                </a:solidFill>
                <a:latin typeface="Aptos"/>
              </a:rPr>
              <a:t>Write contig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865376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75.1%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86000"/>
            <a:ext cx="17830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exact contiguous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743200"/>
            <a:ext cx="2057400" cy="960120"/>
          </a:xfrm>
          <a:prstGeom prst="rect">
            <a:avLst/>
          </a:prstGeom>
          <a:solidFill>
            <a:srgbClr val="11192B"/>
          </a:solidFill>
          <a:ln w="1397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852928"/>
            <a:ext cx="17830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127248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128KiB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547872"/>
            <a:ext cx="17830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dominant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2743200"/>
            <a:ext cx="2057400" cy="960120"/>
          </a:xfrm>
          <a:prstGeom prst="rect">
            <a:avLst/>
          </a:prstGeom>
          <a:solidFill>
            <a:srgbClr val="11192B"/>
          </a:solidFill>
          <a:ln w="1397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852928"/>
            <a:ext cx="17830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B079FF"/>
                </a:solidFill>
                <a:latin typeface="Aptos"/>
              </a:rPr>
              <a:t>LBA span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127248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389GiB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47872"/>
            <a:ext cx="17830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wide touch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605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SSD 选型主压力是 decode random read tail。</a:t>
            </a:r>
          </a:p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写入不是无关紧要: 它通过 GC / fold 污染前台 read。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重点优化 128KiB random read P99/P999, 不是只报 4K random 或顺序峰值。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WORKLOAD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三类 workload 不能互相替代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Synthetic、ShareGPT、BurstGPT 分别回答不同问题。</a:t>
            </a:r>
          </a:p>
        </p:txBody>
      </p:sp>
      <p:pic>
        <p:nvPicPr>
          <p:cNvPr id="5" name="Picture 4" descr="01_sig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94944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645920"/>
            <a:ext cx="3886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EEF4FF"/>
                </a:solidFill>
                <a:latin typeface="Aptos"/>
              </a:defRPr>
            </a:pPr>
            <a:r>
              <a:t>Synthetic fio: 设备能力标定, 可扫 QD/P99, 不能证明真实 LBA。</a:t>
            </a:r>
          </a:p>
          <a:p>
            <a:pPr>
              <a:spcAft>
                <a:spcPts val="700"/>
              </a:spcAft>
              <a:defRPr sz="1550">
                <a:solidFill>
                  <a:srgbClr val="EEF4FF"/>
                </a:solidFill>
                <a:latin typeface="Aptos"/>
              </a:defRPr>
            </a:pPr>
            <a:r>
              <a:t>ShareGPT: 真实聊天 replay, 压力较轻, 适合体验验证。</a:t>
            </a:r>
          </a:p>
          <a:p>
            <a:pPr>
              <a:spcAft>
                <a:spcPts val="700"/>
              </a:spcAft>
              <a:defRPr sz="1550">
                <a:solidFill>
                  <a:srgbClr val="EEF4FF"/>
                </a:solidFill>
                <a:latin typeface="Aptos"/>
              </a:defRPr>
            </a:pPr>
            <a:r>
              <a:t>BurstGPT: 更重更随机, 适合 SSD stress baseline。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069080"/>
            <a:ext cx="178308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4178808"/>
            <a:ext cx="15087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ShareGPT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453128"/>
            <a:ext cx="1508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14K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7375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block IOPS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4069080"/>
            <a:ext cx="178308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FF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4178808"/>
            <a:ext cx="15087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5B6D"/>
                </a:solidFill>
                <a:latin typeface="Aptos"/>
              </a:rPr>
              <a:t>BurstGPT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4453128"/>
            <a:ext cx="1508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35K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87375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block IOPS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认证标准至少要包含 realistic replay + stress replay + fio baseline。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LONG STEADY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短时峰值不是 AI SSD 能力: 30 分钟 token/s 下降 44%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长稳态下 SSD GC / 写放大 / tail latency 会传导到 serving 吞吐。</a:t>
            </a:r>
          </a:p>
        </p:txBody>
      </p:sp>
      <p:pic>
        <p:nvPicPr>
          <p:cNvPr id="5" name="Picture 4" descr="k5_70b_6users_30min_toke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6995160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572768"/>
            <a:ext cx="182880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682495"/>
            <a:ext cx="1554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3FDC92"/>
                </a:solidFill>
                <a:latin typeface="Aptos"/>
              </a:rPr>
              <a:t>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956816"/>
            <a:ext cx="15544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3113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377440"/>
            <a:ext cx="15544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token/s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572768"/>
            <a:ext cx="182880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FF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682495"/>
            <a:ext cx="1554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5B6D"/>
                </a:solidFill>
                <a:latin typeface="Aptos"/>
              </a:rPr>
              <a:t>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956816"/>
            <a:ext cx="15544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1752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2377440"/>
            <a:ext cx="15544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token/s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816352"/>
            <a:ext cx="388620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FF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926080"/>
            <a:ext cx="3611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C94D"/>
                </a:solidFill>
                <a:latin typeface="Aptos"/>
              </a:rPr>
              <a:t>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200400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-44%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621024"/>
            <a:ext cx="36118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30min 内吞吐下滑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6052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5 分钟短测会高估能力。</a:t>
            </a:r>
          </a:p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老板应看 30/60/120min token/s 和 P99 drift。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AI SSD 需要 predictable GC, 否则用户看到的是 TTFT 和吞吐抖动。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GC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GC cliff 会改变短测选型结论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Biwin 短测领先, 20-30min 后与 Seagate 收敛; 这说明 firmware/GC 比峰值更重要。</a:t>
            </a:r>
          </a:p>
        </p:txBody>
      </p:sp>
      <p:pic>
        <p:nvPicPr>
          <p:cNvPr id="5" name="Picture 4" descr="07_long_dri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699516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691640"/>
            <a:ext cx="3703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Biwin: 3.14GB/s 短测 -&gt; 1.57GB/s 30min。</a:t>
            </a:r>
          </a:p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Seagate: 2.34GB/s 短测 -&gt; 1.54GB/s 30min。</a:t>
            </a:r>
          </a:p>
          <a:p>
            <a:pPr>
              <a:spcAft>
                <a:spcPts val="700"/>
              </a:spcAft>
              <a:defRPr sz="1500">
                <a:solidFill>
                  <a:srgbClr val="EEF4FF"/>
                </a:solidFill>
                <a:latin typeface="Aptos"/>
              </a:defRPr>
            </a:pPr>
            <a:r>
              <a:t>两者长稳态仅差约 2%; 短时冠军不等于服务冠军。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4251960"/>
            <a:ext cx="178308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FF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4361688"/>
            <a:ext cx="15087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5B6D"/>
                </a:solidFill>
                <a:latin typeface="Aptos"/>
              </a:rPr>
              <a:t>Biwin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4636008"/>
            <a:ext cx="1508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2.9min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50566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GC cliff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4251960"/>
            <a:ext cx="1783080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4361688"/>
            <a:ext cx="15087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3FDC92"/>
                </a:solidFill>
                <a:latin typeface="Aptos"/>
              </a:rPr>
              <a:t>Seagate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4636008"/>
            <a:ext cx="1508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8.1min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5056632"/>
            <a:ext cx="15087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GC cliff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Spec 里必须加入 GC cliff time、drop、recovery 和 late-window P99。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SLC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SLC cache 不是答案本身: 要改造成 pSLC context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消费级 SLC 为短写 burst 设计; AI 需要可预测、可隔离、可观测。</a:t>
            </a:r>
          </a:p>
        </p:txBody>
      </p:sp>
      <p:pic>
        <p:nvPicPr>
          <p:cNvPr id="5" name="Picture 4" descr="01_slc_context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71600"/>
            <a:ext cx="111099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不是“更大 SLC cache”, 而是固定/可配置 pSLC + read-priority GC + telemetry。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MOONCAKE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系统级 offload 必须先证明 SSD path 真的触发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配置名叫 SSD 没用; 要有 root、enable、read store、O_DIRECT、文件增长证据。</a:t>
            </a:r>
          </a:p>
        </p:txBody>
      </p:sp>
      <p:pic>
        <p:nvPicPr>
          <p:cNvPr id="5" name="Picture 4" descr="01_overall_performance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25880"/>
            <a:ext cx="6812280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481328"/>
            <a:ext cx="1874519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3FD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1591056"/>
            <a:ext cx="160019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3FDC92"/>
                </a:solidFill>
                <a:latin typeface="Aptos"/>
              </a:rPr>
              <a:t>TTFT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1865376"/>
            <a:ext cx="1600199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-17.2%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2286000"/>
            <a:ext cx="160019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+SSD vs Mooncake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38360" y="1481328"/>
            <a:ext cx="1874519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29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1591056"/>
            <a:ext cx="160019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Cache hit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865376"/>
            <a:ext cx="1600199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67.8%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286000"/>
            <a:ext cx="160019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+Mooncake+SSD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697480"/>
            <a:ext cx="1874519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B0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2807208"/>
            <a:ext cx="160019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B079FF"/>
                </a:solidFill>
                <a:latin typeface="Aptos"/>
              </a:rPr>
              <a:t>Offload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081528"/>
            <a:ext cx="1600199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41GiB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502152"/>
            <a:ext cx="160019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files on SSD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2697480"/>
            <a:ext cx="1874519" cy="914400"/>
          </a:xfrm>
          <a:prstGeom prst="rect">
            <a:avLst/>
          </a:prstGeom>
          <a:solidFill>
            <a:srgbClr val="11192B"/>
          </a:solidFill>
          <a:ln w="13970">
            <a:solidFill>
              <a:srgbClr val="FFC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07208"/>
            <a:ext cx="160019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FFC94D"/>
                </a:solidFill>
                <a:latin typeface="Aptos"/>
              </a:rPr>
              <a:t>O_DIRECT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081528"/>
            <a:ext cx="1600199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EEF4FF"/>
                </a:solidFill>
                <a:latin typeface="Aptos"/>
              </a:rPr>
              <a:t>1341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502152"/>
            <a:ext cx="1600199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9BAAC3"/>
                </a:solidFill>
                <a:latin typeface="Aptos"/>
              </a:rPr>
              <a:t>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16052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EEF4FF"/>
                </a:solidFill>
                <a:latin typeface="Aptos"/>
              </a:defRPr>
            </a:pPr>
            <a:r>
              <a:t>当前结论: path 已触发, 趋势成立。</a:t>
            </a:r>
          </a:p>
          <a:p>
            <a:pPr>
              <a:spcAft>
                <a:spcPts val="700"/>
              </a:spcAft>
              <a:defRPr sz="1450">
                <a:solidFill>
                  <a:srgbClr val="EEF4FF"/>
                </a:solidFill>
                <a:latin typeface="Aptos"/>
              </a:defRPr>
            </a:pPr>
            <a:r>
              <a:t>边界: 仍有 insufficient space, 不是 clean production benchmark。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AI SSD benchmark 必须有 activation gate, 否则性能图没有 SSD 归因价值。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GDS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GDS 是高端方向, 但不能先承诺收益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Non-GDS 会引入 CPU bounce buffer; GDS 需要证明 direct path 没 fallback。</a:t>
            </a:r>
          </a:p>
        </p:txBody>
      </p:sp>
      <p:pic>
        <p:nvPicPr>
          <p:cNvPr id="5" name="Picture 4" descr="04_gds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GDS readiness 应作为 P1/P2, 指标包括 CPU util、TTFT、read tail、fallback detection。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PRODUCT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产品设计: TLC 热层 + QLC 冷层, pSLC 做 context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把介质、缓存和 workload 分层, 不要用一个 SSD 口号覆盖所有 AI 场景。</a:t>
            </a:r>
          </a:p>
        </p:txBody>
      </p:sp>
      <p:pic>
        <p:nvPicPr>
          <p:cNvPr id="5" name="Picture 4" descr="02_produc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1101852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Hot KV 需要 TLC low tail; QLC 更适合 RAG/cold memory; pSLC 保护 metadata/WAL/hot write。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AI SSD v1.0 需求: 先定义可验证的指标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把普通 SSD spec 改成 AI workload scorecard。</a:t>
            </a:r>
          </a:p>
        </p:txBody>
      </p:sp>
      <p:pic>
        <p:nvPicPr>
          <p:cNvPr id="5" name="Picture 4" descr="05_require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89888"/>
            <a:ext cx="109728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产品含义: 没有 tail、GC、path proof 的 AI SSD 指标不可信。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7315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9D3FF"/>
                </a:solidFill>
                <a:latin typeface="Apto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EEF4FF"/>
                </a:solidFill>
                <a:latin typeface="Aptos"/>
              </a:rPr>
              <a:t>下一步: 用标准化实验把预研变成产品判断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881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BAAC3"/>
                </a:solidFill>
                <a:latin typeface="Aptos"/>
              </a:rPr>
              <a:t>先证明指标稳定, 再进入样机和规格定义。</a:t>
            </a:r>
          </a:p>
        </p:txBody>
      </p:sp>
      <p:pic>
        <p:nvPicPr>
          <p:cNvPr id="5" name="Picture 4" descr="06_evidence_to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109728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C94D"/>
                </a:solidFill>
                <a:latin typeface="Aptos"/>
              </a:rPr>
              <a:t>管理层决策: 继续投入 AI SSD 预研, 但阶段目标是测试标准 + 样机方向, 不是立刻承诺最终 SKU。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